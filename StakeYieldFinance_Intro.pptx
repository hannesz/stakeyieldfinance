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377440"/>
            <a:ext cx="3657600" cy="50800"/>
          </a:xfrm>
          <a:prstGeom prst="rect">
            <a:avLst/>
          </a:prstGeom>
          <a:solidFill>
            <a:srgbClr val="637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StakeYieldFinance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4EC9B0"/>
                </a:solidFill>
                <a:latin typeface="Calibri"/>
              </a:defRPr>
            </a:pPr>
            <a:r>
              <a:t>Fixed-Rate Yield on Ethereum Staking — Powered by Actuarial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08AA0"/>
                </a:solidFill>
                <a:latin typeface="Calibri"/>
              </a:defRPr>
            </a:pPr>
            <a:r>
              <a:t>Hannes Zühlke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Ethereum staking APR floats between ~2.5–4.5% — unpredictable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Validators &amp; LST holders bear full yield variance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No native fixed-income instrument for staked ETH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Existing protocols (Pendle, Notional) rely on AMM-implied rates — opaque pricing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Institutions need predictable cash flows, not floating rewards</a:t>
            </a:r>
          </a:p>
        </p:txBody>
      </p:sp>
      <p:pic>
        <p:nvPicPr>
          <p:cNvPr id="4" name="Picture 3" descr="08_implied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1894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3035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AA0"/>
                </a:solidFill>
                <a:latin typeface="Calibri"/>
              </a:defRPr>
            </a:pPr>
            <a:r>
              <a:t>Historical implied staking yield — volatile and hard to plan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The Solution: StableYield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Deposit wstETH → receive a fixed-rate yield token (syLST)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Locked rate at deposit time, redeemable at maturity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Protocol reserve absorbs variance between floating &amp; fixed yield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Dynamic spread adjusts automatically based on reserve health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Actuarial-grade risk pricing — transparent, on-chain solvency ratio</a:t>
            </a:r>
          </a:p>
          <a:p>
            <a:pPr>
              <a:spcAft>
                <a:spcPts val="600"/>
              </a:spcAft>
              <a:defRPr sz="1800">
                <a:solidFill>
                  <a:srgbClr val="C0C8E0"/>
                </a:solidFill>
                <a:latin typeface="Calibri"/>
              </a:defRPr>
              <a:buChar char="▸"/>
            </a:pPr>
            <a:r>
              <a:t>No counterparty — the reserve IS the counterparty (insurance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01168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User deposits wstETH, selects maturity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0604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60604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Vault locks deposit, mints syLST at fixed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20040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Floating yield accrues; surplus → reserve, deficit ← 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9476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79476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At maturity: redeem syLST for principal + fixed yield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Yield Model — From Beacon Chain to Fixed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APR = f(total staked ETH) — deterministic issuance formula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r = p × 5,256,000 / √B_total  (p ≈ 0.99 participation)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Future APR depends on validator count trajectory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Phase 1: Deterministic queue unwind (entry/exit queues → N_active)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Phase 2: Merton jump-diffusion for stochastic arrivals/exits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Monte Carlo → distribution of future APR paths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Calibrated from 326k+ rows of beacon-chain history</a:t>
            </a:r>
          </a:p>
        </p:txBody>
      </p:sp>
      <p:pic>
        <p:nvPicPr>
          <p:cNvPr id="4" name="Picture 3" descr="01_active_valid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030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3035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AA0"/>
                </a:solidFill>
                <a:latin typeface="Calibri"/>
              </a:defRPr>
            </a:pPr>
            <a:r>
              <a:t>Active validator count over time — the key state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Queue Dynamics &amp; Churn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Entry/exit queues govern validator activation &amp; withdrawal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Churn limit: max(4, ⌊N/65536⌋) validators per epoch (capped at 8 post-Deneb)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Queues create near-term deterministic APR trajectory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Once queues clear, stochastic dynamics dominate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Net flow currently exit-heavy → upward-sloping yield curve</a:t>
            </a:r>
          </a:p>
        </p:txBody>
      </p:sp>
      <p:pic>
        <p:nvPicPr>
          <p:cNvPr id="4" name="Picture 3" descr="02_entry_exit_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303520" cy="3030583"/>
          </a:xfrm>
          <a:prstGeom prst="rect">
            <a:avLst/>
          </a:prstGeom>
        </p:spPr>
      </p:pic>
      <p:pic>
        <p:nvPicPr>
          <p:cNvPr id="5" name="Picture 4" descr="05_ne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5029200" cy="1796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Constructing the Ethereum Staking Yield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Monte Carlo simulation → 10,000 APR paths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Discount factors: D(T) = E[exp(-∫₀ᵀ r(t) dt)]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Zero-coupon rates extracted from discount factors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Fan chart shows uncertainty bands (p5–p95)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Foundation for pricing fixed-rate instruments</a:t>
            </a:r>
          </a:p>
        </p:txBody>
      </p:sp>
      <p:pic>
        <p:nvPicPr>
          <p:cNvPr id="4" name="Picture 3" descr="09_yield_curve_recalib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5303520" cy="2651760"/>
          </a:xfrm>
          <a:prstGeom prst="rect">
            <a:avLst/>
          </a:prstGeom>
        </p:spPr>
      </p:pic>
      <p:pic>
        <p:nvPicPr>
          <p:cNvPr id="5" name="Picture 4" descr="10_apr_fa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502920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Protocol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46304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StableYield Vault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Main entry: deposit, redeem, harvest</a:t>
            </a:r>
            <a:br/>
            <a:r>
              <a:t>Holds all escrowed wstETH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syLST (ERC-1155)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Fixed-yield tokens</a:t>
            </a:r>
            <a:br/>
            <a:r>
              <a:t>One ID per maturity 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29184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Reserve Manager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Solvency tracking</a:t>
            </a:r>
            <a:br/>
            <a:r>
              <a:t>Surplus/deficit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29184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Spread Calculator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Dynamic spread from κ</a:t>
            </a:r>
            <a:br/>
            <a:r>
              <a:t>Pure math, no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93776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SYLD Token (ERC-20)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Governance + backstop</a:t>
            </a:r>
            <a:br/>
            <a:r>
              <a:t>Residual claim on reserves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292608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Frontend (Swap GUI)</a:t>
            </a:r>
          </a:p>
          <a:p>
            <a:pPr algn="ctr">
              <a:defRPr sz="1100">
                <a:solidFill>
                  <a:srgbClr val="C0C8E0"/>
                </a:solidFill>
                <a:latin typeface="Calibri"/>
              </a:defRPr>
            </a:pPr>
            <a:r>
              <a:t>Rate display, deposit flow</a:t>
            </a:r>
            <a:br/>
            <a:r>
              <a:t>HTML/JS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Dynamic Spread — Self-Stabilising Risk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EC9B0"/>
                </a:solidFill>
                <a:latin typeface="Consolas"/>
              </a:defRPr>
            </a:pPr>
            <a:r>
              <a:t>s(κ) = s_base × (1 + α × max(0, κ_target/κ − 1)^β)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κ = Reserve / Liabilities (solvency ratio)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κ ≥ 1.5 (target): spread = 50bp — attractive rates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κ = 0.7: spread ≈ 115bp — gentle deterrent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κ = 0.5: spread ≈ 470bp — strong deterrent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κ = 0.3 (critical): spread ≈ 5,050bp — effectively closed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No governance intervention needed — pure math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Smooth transition, no cliff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Key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onsolas"/>
              </a:defRPr>
            </a:pPr>
            <a:r>
              <a:t>s_base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50 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288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08AA0"/>
                </a:solidFill>
                <a:latin typeface="Calibri"/>
              </a:defRPr>
            </a:pPr>
            <a:r>
              <a:t>Base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7627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onsolas"/>
              </a:defRPr>
            </a:pPr>
            <a:r>
              <a:t>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7627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762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08AA0"/>
                </a:solidFill>
                <a:latin typeface="Calibri"/>
              </a:defRPr>
            </a:pPr>
            <a:r>
              <a:t>Stress multiplier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2374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onsolas"/>
              </a:defRPr>
            </a:pPr>
            <a:r>
              <a:t>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2374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23744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08AA0"/>
                </a:solidFill>
                <a:latin typeface="Calibri"/>
              </a:defRPr>
            </a:pPr>
            <a:r>
              <a:t>Convexity (cubic)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7121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onsolas"/>
              </a:defRPr>
            </a:pPr>
            <a:r>
              <a:t>κ_target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7121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87121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08AA0"/>
                </a:solidFill>
                <a:latin typeface="Calibri"/>
              </a:defRPr>
            </a:pPr>
            <a:r>
              <a:t>Target solvency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1868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  <a:latin typeface="Consolas"/>
              </a:defRPr>
            </a:pPr>
            <a:r>
              <a:t>κ_critical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1868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18688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08AA0"/>
                </a:solidFill>
                <a:latin typeface="Calibri"/>
              </a:defRPr>
            </a:pPr>
            <a:r>
              <a:t>Emergency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Reserve Management — Actuarial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Reserve absorbs variance: surplus → reserve, deficit ← reserve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Inspired by Swiss Solvency Test (SST) / Solvency II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Explicit SCR (Solvency Capital Requirement) from Monte Carlo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SYLD token = subordinated backstop (MakerDAO MKR model)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syLST holders are senior — claims always honoured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Credit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029200" cy="502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C8E0"/>
                </a:solidFill>
                <a:latin typeface="Calibri"/>
              </a:defRPr>
            </a:pPr>
            <a:r>
              <a:t>  SENIOR:  syLST Depositors — fixed yield guaranteed by reserve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0600"/>
            <a:ext cx="5029200" cy="502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C8E0"/>
                </a:solidFill>
                <a:latin typeface="Calibri"/>
              </a:defRPr>
            </a:pPr>
            <a:r>
              <a:t>  JUNIOR:  SYLD Holders — residual claim, bear tail risk via dilution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Initial Reserve Sizing (10k wstETH TVL)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Annual yield variance: ~7bp (from model)</a:t>
            </a:r>
          </a:p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Tail risk (p1 scenario): ~15bp below expected</a:t>
            </a:r>
          </a:p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1-year SCR: ~15 wstETH (0.15% of TVL)</a:t>
            </a:r>
          </a:p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Target reserve (150%): ~22.5 wstETH</a:t>
            </a:r>
          </a:p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Conservative with buffers: 3–5% of TVL</a:t>
            </a:r>
          </a:p>
          <a:p>
            <a:pPr>
              <a:spcAft>
                <a:spcPts val="600"/>
              </a:spcAft>
              <a:defRPr sz="1500">
                <a:solidFill>
                  <a:srgbClr val="C0C8E0"/>
                </a:solidFill>
                <a:latin typeface="Calibri"/>
              </a:defRPr>
              <a:buChar char="▸"/>
            </a:pPr>
            <a:r>
              <a:t>Remarkably capital-efficient due to low model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Token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4EC9B0"/>
                </a:solidFill>
                <a:latin typeface="Calibri"/>
              </a:defRPr>
            </a:pPr>
            <a:r>
              <a:t>syLST — Stable Yield LST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ERC-1155: one token ID per maturity series (Q3-26, Q4-26, …)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Claim to (1 + r_fixed × T/365) wstETH at maturity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Fully transferable — tradeable on DEXes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Composable: usable as collateral in lending protocols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No early exit from vault — sell on secondary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4EC9B0"/>
                </a:solidFill>
                <a:latin typeface="Calibri"/>
              </a:defRPr>
            </a:pPr>
            <a:r>
              <a:t>SYLD — Governance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ERC-20 with fixed supply + emergency mint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Governance votes on protocol parameters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Stake to receive excess reserve distributions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Emergency backstop: mint &amp; auction to recapitalize</a:t>
            </a:r>
          </a:p>
          <a:p>
            <a:pPr>
              <a:spcAft>
                <a:spcPts val="600"/>
              </a:spcAft>
              <a:defRPr sz="1600">
                <a:solidFill>
                  <a:srgbClr val="C0C8E0"/>
                </a:solidFill>
                <a:latin typeface="Calibri"/>
              </a:defRPr>
              <a:buChar char="▸"/>
            </a:pPr>
            <a:r>
              <a:t>Subordinated to syLST (bears tail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vs. Existing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0C8E0"/>
                </a:solidFill>
                <a:latin typeface="Calibri"/>
              </a:defRPr>
            </a:pPr>
            <a:r>
              <a:t>StableYield: model + actuarial pricing  ·  Pendle: AMM-implied  ·  Notional: pool-based</a:t>
            </a:r>
            <a:br/>
            <a:r>
              <a:t>Only protocol with explicit actuarial reserve &amp; transparent on-chain solvency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From Yield Curves to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Discount factors from MC simulation → zero-coupon rates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Fixed-rate quotes derived directly from the term structure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Interest rate swap pricing: pay fixed, receive floating staking yield</a:t>
            </a:r>
          </a:p>
          <a:p>
            <a:pPr>
              <a:spcAft>
                <a:spcPts val="600"/>
              </a:spcAft>
              <a:defRPr sz="1700">
                <a:solidFill>
                  <a:srgbClr val="C0C8E0"/>
                </a:solidFill>
                <a:latin typeface="Calibri"/>
              </a:defRPr>
              <a:buChar char="▸"/>
            </a:pPr>
            <a:r>
              <a:t>Interactive swap pricer GUI built for exploration</a:t>
            </a:r>
          </a:p>
        </p:txBody>
      </p:sp>
      <p:pic>
        <p:nvPicPr>
          <p:cNvPr id="4" name="Picture 3" descr="11_discount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5303520" cy="2272937"/>
          </a:xfrm>
          <a:prstGeom prst="rect">
            <a:avLst/>
          </a:prstGeom>
        </p:spPr>
      </p:pic>
      <p:pic>
        <p:nvPicPr>
          <p:cNvPr id="5" name="Picture 4" descr="swap_pricer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5029200" cy="491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601200" cy="100584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EC9B0"/>
                </a:solidFill>
                <a:latin typeface="Calibri"/>
              </a:defRPr>
            </a:pPr>
            <a:r>
              <a:t>Phase 1 — Testnet</a:t>
            </a:r>
          </a:p>
          <a:p>
            <a:pPr>
              <a:defRPr sz="1400">
                <a:solidFill>
                  <a:srgbClr val="C0C8E0"/>
                </a:solidFill>
                <a:latin typeface="Calibri"/>
              </a:defRPr>
            </a:pPr>
            <a:r>
              <a:t>Core contracts, single maturity, Hardhat tests, GUI integration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37360"/>
            <a:ext cx="320040" cy="32004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697480"/>
            <a:ext cx="9601200" cy="100584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637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37DEA"/>
                </a:solidFill>
                <a:latin typeface="Calibri"/>
              </a:defRPr>
            </a:pPr>
            <a:r>
              <a:t>Phase 2 — Audit &amp; Beta</a:t>
            </a:r>
          </a:p>
          <a:p>
            <a:pPr>
              <a:defRPr sz="1400">
                <a:solidFill>
                  <a:srgbClr val="C0C8E0"/>
                </a:solidFill>
                <a:latin typeface="Calibri"/>
              </a:defRPr>
            </a:pPr>
            <a:r>
              <a:t>Professional audit, Holesky deployment, bug bounty, multi-series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971800"/>
            <a:ext cx="320040" cy="320040"/>
          </a:xfrm>
          <a:prstGeom prst="ellipse">
            <a:avLst/>
          </a:prstGeom>
          <a:solidFill>
            <a:srgbClr val="637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601200" cy="100584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E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0A050"/>
                </a:solidFill>
                <a:latin typeface="Calibri"/>
              </a:defRPr>
            </a:pPr>
            <a:r>
              <a:t>Phase 3 — Mainnet</a:t>
            </a:r>
          </a:p>
          <a:p>
            <a:pPr>
              <a:defRPr sz="1400">
                <a:solidFill>
                  <a:srgbClr val="C0C8E0"/>
                </a:solidFill>
                <a:latin typeface="Calibri"/>
              </a:defRPr>
            </a:pPr>
            <a:r>
              <a:t>Conservative launch, initial reserve, SYLD token, short tenors (≤6m)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4206240"/>
            <a:ext cx="320040" cy="320040"/>
          </a:xfrm>
          <a:prstGeom prst="ellipse">
            <a:avLst/>
          </a:prstGeom>
          <a:solidFill>
            <a:srgbClr val="E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5166360"/>
            <a:ext cx="9601200" cy="100584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C06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60D0"/>
                </a:solidFill>
                <a:latin typeface="Calibri"/>
              </a:defRPr>
            </a:pPr>
            <a:r>
              <a:t>Phase 4 — DeFi Integration</a:t>
            </a:r>
          </a:p>
          <a:p>
            <a:pPr>
              <a:defRPr sz="1400">
                <a:solidFill>
                  <a:srgbClr val="C0C8E0"/>
                </a:solidFill>
                <a:latin typeface="Calibri"/>
              </a:defRPr>
            </a:pPr>
            <a:r>
              <a:t>On-chain yield model, syLST as collateral, L2 deployment, multi-LST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5440680"/>
            <a:ext cx="320040" cy="320040"/>
          </a:xfrm>
          <a:prstGeom prst="ellipse">
            <a:avLst/>
          </a:prstGeom>
          <a:solidFill>
            <a:srgbClr val="C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637DEA"/>
                </a:solidFill>
                <a:latin typeface="Calibri"/>
              </a:defRPr>
            </a:pPr>
            <a:r>
              <a:t>Why StakeYieldFinance?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Model-Driven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Actuarial yield model, not AMM guesswork — transparent, verifiable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Explicit Risk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On-chain solvency ratio, SCR, dynamic spread — SST/Solvency II inspired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Capital Efficient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Reserve requirement ~3–5% of TVL — low model uncertainty = small 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DeFi Composable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syLST tradeable, usable as collateral — yield curve arbitrage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Clear Credit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syLST senior, SYLD junior — well-understood waterfall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Self-Stabilising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8006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0C8E0"/>
                </a:solidFill>
                <a:latin typeface="Calibri"/>
              </a:defRPr>
            </a:pPr>
            <a:r>
              <a:t>Dynamic spread adjusts automatically — no governance fire drills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560320"/>
            <a:ext cx="3200400" cy="50800"/>
          </a:xfrm>
          <a:prstGeom prst="rect">
            <a:avLst/>
          </a:prstGeom>
          <a:solidFill>
            <a:srgbClr val="637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C0C8E0"/>
                </a:solidFill>
                <a:latin typeface="Calibri"/>
              </a:defRPr>
            </a:pPr>
            <a:r>
              <a:t>Hannes Zühlke  ·  johanneszuehlke@fastmail.com  ·  github.com/HannesZ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4EC9B0"/>
                </a:solidFill>
                <a:latin typeface="Calibri"/>
              </a:defRPr>
            </a:pPr>
            <a:r>
              <a:t>StakeYieldFinance — Fixed-Rate Yield Meets Actuarial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08AA0"/>
                </a:solidFill>
                <a:latin typeface="Calibri"/>
              </a:defRPr>
            </a:pPr>
            <a:r>
              <a:t>StakeYieldFinance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